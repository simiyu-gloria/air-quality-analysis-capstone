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26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07A1C"/>
                </a:solidFill>
                <a:latin typeface="Calibri"/>
              </a:rPr>
              <a:t>DATA ANALYTICS CAPSTONE · GROUP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FFFFF"/>
                </a:solidFill>
                <a:latin typeface="Calibri"/>
              </a:rPr>
              <a:t>Air Quality Patterns</a:t>
            </a:r>
          </a:p>
          <a:p>
            <a:pPr algn="l">
              <a:lnSpc>
                <a:spcPct val="105000"/>
              </a:lnSpc>
            </a:pPr>
            <a:r>
              <a:rPr sz="4200" b="1">
                <a:solidFill>
                  <a:srgbClr val="FFFFFF"/>
                </a:solidFill>
                <a:latin typeface="Calibri"/>
              </a:rPr>
              <a:t>in African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Client: United Nations Environment Programme (UNEP)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9CEC9"/>
                </a:solidFill>
                <a:latin typeface="Calibri"/>
              </a:rPr>
              <a:t>Data source: OpenAQ v3 API  ·  Cities: Nairobi, Kampala, Kigali, Addis Ababa, Johannesburg, Lagos  ·  2021–present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058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9AA39C"/>
                </a:solidFill>
                <a:latin typeface="Calibri"/>
              </a:rPr>
              <a:t>Team: Samuel </a:t>
            </a:r>
            <a:r>
              <a:rPr sz="1200" b="0" dirty="0" err="1">
                <a:solidFill>
                  <a:srgbClr val="9AA39C"/>
                </a:solidFill>
                <a:latin typeface="Calibri"/>
              </a:rPr>
              <a:t>Tokoye</a:t>
            </a:r>
            <a:r>
              <a:rPr sz="1200" b="0" dirty="0">
                <a:solidFill>
                  <a:srgbClr val="9AA39C"/>
                </a:solidFill>
                <a:latin typeface="Calibri"/>
              </a:rPr>
              <a:t> · Paul Kibet </a:t>
            </a:r>
            <a:r>
              <a:rPr sz="1200" b="0" dirty="0" err="1">
                <a:solidFill>
                  <a:srgbClr val="9AA39C"/>
                </a:solidFill>
                <a:latin typeface="Calibri"/>
              </a:rPr>
              <a:t>Miningwa</a:t>
            </a:r>
            <a:r>
              <a:rPr sz="1200" b="0" dirty="0">
                <a:solidFill>
                  <a:srgbClr val="9AA39C"/>
                </a:solidFill>
                <a:latin typeface="Calibri"/>
              </a:rPr>
              <a:t> · Winnie Odoyo · Gloria Simiyu </a:t>
            </a:r>
            <a:r>
              <a:rPr sz="1200" b="0" dirty="0" err="1">
                <a:solidFill>
                  <a:srgbClr val="9AA39C"/>
                </a:solidFill>
                <a:latin typeface="Calibri"/>
              </a:rPr>
              <a:t>Wandabwa</a:t>
            </a:r>
            <a:endParaRPr sz="1200" b="0" dirty="0">
              <a:solidFill>
                <a:srgbClr val="9AA39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A1C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12B24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381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Air Quality Patterns in African Cities — Capstone Group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196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2000">
                <a:solidFill>
                  <a:srgbClr val="212B24"/>
                </a:solidFill>
                <a:latin typeface="Calibri"/>
              </a:rPr>
              <a:t>•  Project brief &amp; research questions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2000">
                <a:solidFill>
                  <a:srgbClr val="212B24"/>
                </a:solidFill>
                <a:latin typeface="Calibri"/>
              </a:rPr>
              <a:t>•  Data acquisition &amp; methodology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2000">
                <a:solidFill>
                  <a:srgbClr val="212B24"/>
                </a:solidFill>
                <a:latin typeface="Calibri"/>
              </a:rPr>
              <a:t>•  Data quality &amp; cleaning decisions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2000">
                <a:solidFill>
                  <a:srgbClr val="212B24"/>
                </a:solidFill>
                <a:latin typeface="Calibri"/>
              </a:rPr>
              <a:t>•  Statistical techniques applied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2000">
                <a:solidFill>
                  <a:srgbClr val="212B24"/>
                </a:solidFill>
                <a:latin typeface="Calibri"/>
              </a:rPr>
              <a:t>•  Key visuals (6 charts)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2000">
                <a:solidFill>
                  <a:srgbClr val="212B24"/>
                </a:solidFill>
                <a:latin typeface="Calibri"/>
              </a:rPr>
              <a:t>•  Findings — answers to the 6 client questions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2000">
                <a:solidFill>
                  <a:srgbClr val="212B24"/>
                </a:solidFill>
                <a:latin typeface="Calibri"/>
              </a:rPr>
              <a:t>•  Intervention prioritization ranking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2000">
                <a:solidFill>
                  <a:srgbClr val="212B24"/>
                </a:solidFill>
                <a:latin typeface="Calibri"/>
              </a:rPr>
              <a:t>•  Recommendation for UNEP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A1C"/>
                </a:solidFill>
                <a:latin typeface="Calibri"/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12B24"/>
                </a:solidFill>
                <a:latin typeface="Calibri"/>
              </a:rPr>
              <a:t>Project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381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Air Quality Patterns in African Cities — Capstone Group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196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212B24"/>
                </a:solidFill>
                <a:latin typeface="Calibri"/>
              </a:rPr>
              <a:t>Air pollution is an increasing public-health concern across African cities. UNEP commissioned this analysis to evaluate air-quality patterns across six selected cities, to guide future intervention priorities.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07A1C"/>
                </a:solidFill>
                <a:latin typeface="Calibri"/>
              </a:rPr>
              <a:t>Research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212B24"/>
                </a:solidFill>
                <a:latin typeface="Calibri"/>
              </a:rPr>
              <a:t>•  Which city recorded the highest average PM2.5?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212B24"/>
                </a:solidFill>
                <a:latin typeface="Calibri"/>
              </a:rPr>
              <a:t>•  Which pollutants are monitored most frequently?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212B24"/>
                </a:solidFill>
                <a:latin typeface="Calibri"/>
              </a:rPr>
              <a:t>•  Which cities show the greatest seasonal variation in PM2.5?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212B24"/>
                </a:solidFill>
                <a:latin typeface="Calibri"/>
              </a:rPr>
              <a:t>•  How often do PM2.5 readings exceed WHO guidelines?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212B24"/>
                </a:solidFill>
                <a:latin typeface="Calibri"/>
              </a:rPr>
              <a:t>•  Which monitoring stations are most complete &amp; reliable?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212B24"/>
                </a:solidFill>
                <a:latin typeface="Calibri"/>
              </a:rPr>
              <a:t>•  Which cities should be prioritised for intervention, and why?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A1C"/>
                </a:solidFill>
                <a:latin typeface="Calibri"/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12B24"/>
                </a:solidFill>
                <a:latin typeface="Calibri"/>
              </a:rPr>
              <a:t>Data Acquisition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381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Air Quality Patterns in African Cities — Capstone Group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196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635D"/>
                </a:solidFill>
                <a:latin typeface="Calibri"/>
              </a:rPr>
              <a:t>API: OpenAQ v3  ·  Authentication via X-API-Key header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500">
                <a:solidFill>
                  <a:srgbClr val="212B24"/>
                </a:solidFill>
                <a:latin typeface="Calibri"/>
              </a:rPr>
              <a:t>•  GET /v3/locations — identify monitoring stations within a 25km radius of each city center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500">
                <a:solidFill>
                  <a:srgbClr val="212B24"/>
                </a:solidFill>
                <a:latin typeface="Calibri"/>
              </a:rPr>
              <a:t>•  GET /v3/sensors/{id}/days — daily-averaged PM2.5 readings, 2021-01-01 to present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500">
                <a:solidFill>
                  <a:srgbClr val="212B24"/>
                </a:solidFill>
                <a:latin typeface="Calibri"/>
              </a:rPr>
              <a:t>•  Pollutant scope: full time-series for PM2.5 only; other pollutants catalogued by station frequency (Q2)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500">
                <a:solidFill>
                  <a:srgbClr val="212B24"/>
                </a:solidFill>
                <a:latin typeface="Calibri"/>
              </a:rPr>
              <a:t>•  Active sensor = station's last report within 2 years of pull date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500">
                <a:solidFill>
                  <a:srgbClr val="212B24"/>
                </a:solidFill>
                <a:latin typeface="Calibri"/>
              </a:rPr>
              <a:t>•  Known limitation: Johannesburg — only 1 of 7 PM2.5 sensors active; monitoring skews to SO2/PM10/CO. Retained with the limitation documented rather than dropped.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A1C"/>
                </a:solidFill>
                <a:latin typeface="Calibri"/>
              </a:rPr>
              <a:t>SECTION 3–4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12B24"/>
                </a:solidFill>
                <a:latin typeface="Calibri"/>
              </a:rPr>
              <a:t>Data Quality &amp; Cleaning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381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Air Quality Patterns in African Cities — Capstone Group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196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>
                <a:solidFill>
                  <a:srgbClr val="212B24"/>
                </a:solidFill>
                <a:latin typeface="Calibri"/>
              </a:rPr>
              <a:t>•  Missing values: 105 physically-impossible readings reclassified as missing (Lagos 72, Kampala 33); genuine gaps ≤3 days interpolated, longer gaps dropped (concentrated in Addis Ababa 2022 &amp; Kampala 2023)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>
                <a:solidFill>
                  <a:srgbClr val="212B24"/>
                </a:solidFill>
                <a:latin typeface="Calibri"/>
              </a:rPr>
              <a:t>•  Duplicates: 0 found via (city, sensor, date) check; drop step kept as a defensive safeguard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>
                <a:solidFill>
                  <a:srgbClr val="212B24"/>
                </a:solidFill>
                <a:latin typeface="Calibri"/>
              </a:rPr>
              <a:t>•  Outliers: statistical (IQR) outliers flagged, not dropped — spikes can reflect real events (fires, dust, traffic) relevant to WHO exceedance analysis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>
                <a:solidFill>
                  <a:srgbClr val="212B24"/>
                </a:solidFill>
                <a:latin typeface="Calibri"/>
              </a:rPr>
              <a:t>•  Completeness: each row carries a coverage_ratio &amp; quality_band, so later questions choose reliability cutoffs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450">
                <a:solidFill>
                  <a:srgbClr val="212B24"/>
                </a:solidFill>
                <a:latin typeface="Calibri"/>
              </a:rPr>
              <a:t>•  Consistency: single unit (µg/m³) and single averaging period across all six cities — no standardization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A1C"/>
                </a:solidFill>
                <a:latin typeface="Calibri"/>
              </a:rP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12B24"/>
                </a:solidFill>
                <a:latin typeface="Calibri"/>
              </a:rPr>
              <a:t>Statistical Techniques Applied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381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Air Quality Patterns in African Cities — Capstone Group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196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A1C"/>
                </a:solidFill>
                <a:latin typeface="Calibri"/>
              </a:rP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73736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A1C"/>
                </a:solidFill>
                <a:latin typeface="Calibri"/>
              </a:rPr>
              <a:t>Question(s)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A1C"/>
                </a:solidFill>
                <a:latin typeface="Calibri"/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21408"/>
            <a:ext cx="10789920" cy="190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4480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B24"/>
                </a:solidFill>
                <a:latin typeface="Calibri"/>
              </a:rPr>
              <a:t>Descriptive statistics &amp; 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286000"/>
            <a:ext cx="1371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35D"/>
                </a:solidFill>
                <a:latin typeface="Calibri"/>
              </a:rPr>
              <a:t>Q1, 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286000"/>
            <a:ext cx="4754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12B24"/>
                </a:solidFill>
                <a:latin typeface="Calibri"/>
              </a:rPr>
              <a:t>Rank cities by mean/median PM2.5 and monitoring intensity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54680"/>
            <a:ext cx="4480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B24"/>
                </a:solidFill>
                <a:latin typeface="Calibri"/>
              </a:rPr>
              <a:t>Time-series / seasonal analysis + one-way ANOVA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154680"/>
            <a:ext cx="1371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35D"/>
                </a:solidFill>
                <a:latin typeface="Calibri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154680"/>
            <a:ext cx="4754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12B24"/>
                </a:solidFill>
                <a:latin typeface="Calibri"/>
              </a:rPr>
              <a:t>Quantify &amp; test significance of monthly variation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23360"/>
            <a:ext cx="4480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B24"/>
                </a:solidFill>
                <a:latin typeface="Calibri"/>
              </a:rPr>
              <a:t>Threshold / exceedance-rate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023360"/>
            <a:ext cx="1371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35D"/>
                </a:solidFill>
                <a:latin typeface="Calibri"/>
              </a:rP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023360"/>
            <a:ext cx="4754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12B24"/>
                </a:solidFill>
                <a:latin typeface="Calibri"/>
              </a:rPr>
              <a:t>% of readings above WHO 24-hr and annual guidelines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92040"/>
            <a:ext cx="4480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B24"/>
                </a:solidFill>
                <a:latin typeface="Calibri"/>
              </a:rPr>
              <a:t>Composite completeness 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892040"/>
            <a:ext cx="1371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35D"/>
                </a:solidFill>
                <a:latin typeface="Calibri"/>
              </a:rPr>
              <a:t>Q5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892040"/>
            <a:ext cx="4754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12B24"/>
                </a:solidFill>
                <a:latin typeface="Calibri"/>
              </a:rPr>
              <a:t>Rank stations by coverage, quality band, flag/interpolation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760720"/>
            <a:ext cx="4480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B24"/>
                </a:solidFill>
                <a:latin typeface="Calibri"/>
              </a:rPr>
              <a:t>Spearman correlation + weighted composite ranking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5760720"/>
            <a:ext cx="1371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35D"/>
                </a:solidFill>
                <a:latin typeface="Calibri"/>
              </a:rPr>
              <a:t>Q6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760720"/>
            <a:ext cx="4754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212B24"/>
                </a:solidFill>
                <a:latin typeface="Calibri"/>
              </a:rPr>
              <a:t>Synthesize Q1–Q5 into an intervention-priority order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A1C"/>
                </a:solidFill>
                <a:latin typeface="Calibri"/>
              </a:rPr>
              <a:t>CHART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12B24"/>
                </a:solidFill>
                <a:latin typeface="Calibri"/>
              </a:rPr>
              <a:t>Average PM2.5 Concentration by 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381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Air Quality Patterns in African Cities — Capstone Group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196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6</a:t>
            </a:r>
          </a:p>
        </p:txBody>
      </p:sp>
      <p:pic>
        <p:nvPicPr>
          <p:cNvPr id="9" name="Picture 8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00200"/>
            <a:ext cx="7639905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A635D"/>
                </a:solidFill>
                <a:latin typeface="Calibri"/>
              </a:rPr>
              <a:t>Bar chart chosen for direct ranking comparison across discrete cities.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A1C"/>
                </a:solidFill>
                <a:latin typeface="Calibri"/>
              </a:rPr>
              <a:t>CHART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12B24"/>
                </a:solidFill>
                <a:latin typeface="Calibri"/>
              </a:rPr>
              <a:t>Pollutant Monitoring Frequency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381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Air Quality Patterns in African Cities — Capstone Group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196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7</a:t>
            </a:r>
          </a:p>
        </p:txBody>
      </p:sp>
      <p:pic>
        <p:nvPicPr>
          <p:cNvPr id="9" name="Picture 8" descr="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00200"/>
            <a:ext cx="7057928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A635D"/>
                </a:solidFill>
                <a:latin typeface="Calibri"/>
              </a:rPr>
              <a:t>Horizontal bar chosen for comparing many categories with long labels.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A1C"/>
                </a:solidFill>
                <a:latin typeface="Calibri"/>
              </a:rPr>
              <a:t>CHART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12B24"/>
                </a:solidFill>
                <a:latin typeface="Calibri"/>
              </a:rPr>
              <a:t>Monthly PM2.5 Trend by 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381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Air Quality Patterns in African Cities — Capstone Group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196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8</a:t>
            </a:r>
          </a:p>
        </p:txBody>
      </p:sp>
      <p:pic>
        <p:nvPicPr>
          <p:cNvPr id="9" name="Picture 8" descr="ch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00200"/>
            <a:ext cx="8483772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A635D"/>
                </a:solidFill>
                <a:latin typeface="Calibri"/>
              </a:rPr>
              <a:t>Line chart chosen to show time patterns and seasonal movement.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A1C"/>
                </a:solidFill>
                <a:latin typeface="Calibri"/>
              </a:rPr>
              <a:t>CHART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12B24"/>
                </a:solidFill>
                <a:latin typeface="Calibri"/>
              </a:rPr>
              <a:t>WHO Exceedance Rate by 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381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Air Quality Patterns in African Cities — Capstone Group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196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9</a:t>
            </a:r>
          </a:p>
        </p:txBody>
      </p:sp>
      <p:pic>
        <p:nvPicPr>
          <p:cNvPr id="9" name="Picture 8" descr="char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00200"/>
            <a:ext cx="7639905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A635D"/>
                </a:solidFill>
                <a:latin typeface="Calibri"/>
              </a:rPr>
              <a:t>Bar chart chosen for clear threshold-compliance comparison.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A1C"/>
                </a:solidFill>
                <a:latin typeface="Calibri"/>
              </a:rPr>
              <a:t>CHART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12B24"/>
                </a:solidFill>
                <a:latin typeface="Calibri"/>
              </a:rPr>
              <a:t>Station Reliability vs. Average PM2.5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381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Air Quality Patterns in African Cities — Capstone Group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196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10</a:t>
            </a:r>
          </a:p>
        </p:txBody>
      </p:sp>
      <p:pic>
        <p:nvPicPr>
          <p:cNvPr id="9" name="Picture 8" descr="chart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00200"/>
            <a:ext cx="7050799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A635D"/>
                </a:solidFill>
                <a:latin typeface="Calibri"/>
              </a:rPr>
              <a:t>Scatter plot chosen to show the relationship between data quality and pollution level.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A1C"/>
                </a:solidFill>
                <a:latin typeface="Calibri"/>
              </a:rPr>
              <a:t>CHART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12B24"/>
                </a:solidFill>
                <a:latin typeface="Calibri"/>
              </a:rPr>
              <a:t>Monthly PM2.5 Seasonality Heatmap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381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Air Quality Patterns in African Cities — Capstone Group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196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11</a:t>
            </a:r>
          </a:p>
        </p:txBody>
      </p:sp>
      <p:pic>
        <p:nvPicPr>
          <p:cNvPr id="9" name="Picture 8" descr="chart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594757"/>
            <a:ext cx="8635668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A635D"/>
                </a:solidFill>
                <a:latin typeface="Calibri"/>
              </a:rPr>
              <a:t>Heatmap chosen to quickly spot seasonal highs/lows by city.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A1C"/>
                </a:solidFill>
                <a:latin typeface="Calibri"/>
              </a:rPr>
              <a:t>SECTION 7.1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12B24"/>
                </a:solidFill>
                <a:latin typeface="Calibri"/>
              </a:rPr>
              <a:t>Findings — Q1 &amp; Q2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381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Air Quality Patterns in African Cities — Capstone Group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196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07A1C"/>
                </a:solidFill>
                <a:latin typeface="Calibri"/>
              </a:rPr>
              <a:t>Q1: Highest average PM2.5 concentration?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212B24"/>
                </a:solidFill>
                <a:latin typeface="Calibri"/>
              </a:rPr>
              <a:t>Kampala: 52.6 µg/m³ mean, n=7,113 readings — the highest of all six cities studied.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07A1C"/>
                </a:solidFill>
                <a:latin typeface="Calibri"/>
              </a:rPr>
              <a:t>Q2: Most frequently monitored pollutant?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204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212B24"/>
                </a:solidFill>
                <a:latin typeface="Calibri"/>
              </a:rPr>
              <a:t>PM2.5: 133 station-monitor entries across the six cities — more than any other pollutant.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A1C"/>
                </a:solidFill>
                <a:latin typeface="Calibri"/>
              </a:rPr>
              <a:t>SECTION 7.1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12B24"/>
                </a:solidFill>
                <a:latin typeface="Calibri"/>
              </a:rPr>
              <a:t>Findings — Q3 &amp; Q4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381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Air Quality Patterns in African Cities — Capstone Group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196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07A1C"/>
                </a:solidFill>
                <a:latin typeface="Calibri"/>
              </a:rPr>
              <a:t>Q3: Seasonal variation in PM2.5?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12B24"/>
                </a:solidFill>
                <a:latin typeface="Calibri"/>
              </a:rPr>
              <a:t>Lagos shows the widest seasonal swing (monthly mean range = 41.4 µg/m³). A one-way ANOVA confirms statistically significant month-to-month variation (p&lt;0.05) in 5 of 6 cities (Kampala, Kigali, Lagos, Addis Ababa, Nairobi); Johannesburg's data volume was too low to 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07A1C"/>
                </a:solidFill>
                <a:latin typeface="Calibri"/>
              </a:rPr>
              <a:t>Q4: How often do readings exceed the WHO guideline?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12B24"/>
                </a:solidFill>
                <a:latin typeface="Calibri"/>
              </a:rPr>
              <a:t>Kigali exceeds the WHO 24-hour guideline (15 µg/m³) most often among reliably-monitored cities: 97.1% of 1,418 readings. Every city's annual mean PM2.5 sits above the WHO annual guideline (5 µg/m³). Johannesburg shows a nominal 100% rate, but from only 3 readings — not treated as statistically meaningful.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A1C"/>
                </a:solidFill>
                <a:latin typeface="Calibri"/>
              </a:rPr>
              <a:t>SECTION 7.1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12B24"/>
                </a:solidFill>
                <a:latin typeface="Calibri"/>
              </a:rPr>
              <a:t>Findings — Q5 &amp; Q6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381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Air Quality Patterns in African Cities — Capstone Group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196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07A1C"/>
                </a:solidFill>
                <a:latin typeface="Calibri"/>
              </a:rPr>
              <a:t>Q5: Most complete &amp; reliable monitoring stations?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212B24"/>
                </a:solidFill>
                <a:latin typeface="Calibri"/>
              </a:rPr>
              <a:t>"Koshe Test" in Addis Ababa: reliability score 1.00, 100% coverage, "high" quality band.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07A1C"/>
                </a:solidFill>
                <a:latin typeface="Calibri"/>
              </a:rPr>
              <a:t>Q6: Which cities should be prioritised for intervention?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204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212B24"/>
                </a:solidFill>
                <a:latin typeface="Calibri"/>
              </a:rPr>
              <a:t>See the prioritization ranking (next slide) — a weighted composite synthesis of the Q1, Q3, Q4 and Q5 findings above.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A1C"/>
                </a:solidFill>
                <a:latin typeface="Calibri"/>
              </a:rPr>
              <a:t>SECTION 7.2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12B24"/>
                </a:solidFill>
                <a:latin typeface="Calibri"/>
              </a:rPr>
              <a:t>Intervention Prioritization Ranking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381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Air Quality Patterns in African Cities — Capstone Group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196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15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572768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12B24"/>
                </a:solidFill>
                <a:latin typeface="Calibri"/>
              </a:rPr>
              <a:t>Kampala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554480"/>
            <a:ext cx="8046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635D"/>
                </a:solidFill>
                <a:latin typeface="Calibri"/>
              </a:rPr>
              <a:t>Highest avg PM2.5 among reliably-monitored cities (52.6 µg/m³, 3x+ WHO annual guideline); exceeds 24-hr guideline 96% of the time; large evidence base (n=7,113).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441448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12B24"/>
                </a:solidFill>
                <a:latin typeface="Calibri"/>
              </a:rPr>
              <a:t>Kigali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23160"/>
            <a:ext cx="8046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635D"/>
                </a:solidFill>
                <a:latin typeface="Calibri"/>
              </a:rPr>
              <a:t>Highest 24-hr exceedance rate of all reliably-monitored cities (97.1%); large seasonal swing (30.8 µg/m³) suggests a recurring, targetable source (e.g. dry-season burning/dust).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10128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12B24"/>
                </a:solidFill>
                <a:latin typeface="Calibri"/>
              </a:rPr>
              <a:t>Lagos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291840"/>
            <a:ext cx="8046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635D"/>
                </a:solidFill>
                <a:latin typeface="Calibri"/>
              </a:rPr>
              <a:t>Largest evidence base (n=9,042) and widest seasonal range (41.4 µg/m³) on an already-high baseline (38.6 µg/m³) — episodic events on top of chronic exposure.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178808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12B24"/>
                </a:solidFill>
                <a:latin typeface="Calibri"/>
              </a:rPr>
              <a:t>Addis Ababa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160520"/>
            <a:ext cx="8046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635D"/>
                </a:solidFill>
                <a:latin typeface="Calibri"/>
              </a:rPr>
              <a:t>Moderate average (26.1 µg/m³), still 5x+ WHO annual guideline; hosts the study's most reliable station (Koshe Test) — existing infrastructure to build on.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07492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047488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12B24"/>
                </a:solidFill>
                <a:latin typeface="Calibri"/>
              </a:rPr>
              <a:t>Nairobi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029200"/>
            <a:ext cx="8046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635D"/>
                </a:solidFill>
                <a:latin typeface="Calibri"/>
              </a:rPr>
              <a:t>Lowest average PM2.5 (23.2 µg/m³) and lowest exceedance rate (61%) among the five — still above guidelines, but least urgent.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7A1C"/>
                </a:solidFill>
                <a:latin typeface="Calibri"/>
              </a:rPr>
              <a:t>SECTION 7.2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12B24"/>
                </a:solidFill>
                <a:latin typeface="Calibri"/>
              </a:rPr>
              <a:t>Monitoring-Expansion Watchlist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381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212B24"/>
                </a:solidFill>
                <a:latin typeface="Calibri"/>
              </a:rPr>
              <a:t>Johannesburg is excluded from the priority ranking — not because its air is clean, but because the study window captured only 3 readings from 1 active sensor, too little to support any severity claim.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91840"/>
            <a:ext cx="10789920" cy="190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E07A1C"/>
                </a:solidFill>
                <a:latin typeface="Calibri"/>
              </a:rPr>
              <a:t>Recommendation: fund monitoring-infrastructure expansion here before any pollution-mitigation intervention — no defensible priority ranking is currently possible from this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5A635D"/>
                </a:solidFill>
                <a:latin typeface="Calibri"/>
              </a:rPr>
              <a:t>A Spearman correlation test between average PM2.5 and station reliability across the five reliably-monitored cities found no significant relationship (rho=0.10, p=0.873) — this ranking reflects real pollution differences, not an artifact of uneven monitoring quality.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196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Air Quality Patterns in African Cities — Capstone Group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5196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35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07A1C"/>
                </a:solidFill>
                <a:latin typeface="Calibri"/>
              </a:rPr>
              <a:t>RECOMMENDATION FOR UNEP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FFFFFF"/>
                </a:solidFill>
                <a:latin typeface="Calibri"/>
              </a:rPr>
              <a:t>UNEP should prioritize funding for both air-quality mitigation measures in Kampala, Kigali, and Lagos, and expanded monitoring infrastructure in cities with limited data coverage, such as Johannesburg, to enable more confident future assessment.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39C"/>
                </a:solidFill>
                <a:latin typeface="Calibri"/>
              </a:rP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1438</Words>
  <Application>Microsoft Office PowerPoint</Application>
  <PresentationFormat>Widescreen</PresentationFormat>
  <Paragraphs>154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Samuel Shadiva</cp:lastModifiedBy>
  <cp:revision>2</cp:revision>
  <dcterms:created xsi:type="dcterms:W3CDTF">2013-01-27T09:14:16Z</dcterms:created>
  <dcterms:modified xsi:type="dcterms:W3CDTF">2026-08-18T11:19:26Z</dcterms:modified>
  <cp:category/>
</cp:coreProperties>
</file>